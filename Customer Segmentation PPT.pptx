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58" r:id="rId4"/>
    <p:sldId id="261" r:id="rId5"/>
    <p:sldId id="264" r:id="rId6"/>
    <p:sldId id="259" r:id="rId7"/>
    <p:sldId id="260" r:id="rId8"/>
    <p:sldId id="262" r:id="rId9"/>
    <p:sldId id="263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38" autoAdjust="0"/>
    <p:restoredTop sz="94660"/>
  </p:normalViewPr>
  <p:slideViewPr>
    <p:cSldViewPr snapToGrid="0">
      <p:cViewPr varScale="1">
        <p:scale>
          <a:sx n="71" d="100"/>
          <a:sy n="71" d="100"/>
        </p:scale>
        <p:origin x="14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7691-7BEC-4342-874A-73E00F79B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CB407B-FFC3-50A2-FEA3-A272CF4C7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22079-9339-4E5A-C70A-5999FAB8F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50DA5-98BF-C854-EF27-9C476FE0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EBDF9-2FC5-DF39-7DB0-FE1F3C615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38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3A2E-50BB-CE53-37D9-72B9C0F6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A39BB-4D22-626F-1057-1A4B57884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1FB1A-E65B-CCC6-37B7-9402890A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6E890-2E7D-45AB-C4A9-163026AD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7894B-896B-07D1-2A89-1E08F9289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73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4DC45-4C13-C5A2-CBBE-6327D373C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6F388-90AF-23A8-C239-8E7939DCB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ED0CE-08C1-FBD5-6450-D8D2937D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31900-F1BE-EB4F-19C7-952E423F2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0C8D9-32A5-ACC9-BC80-A76FC15E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63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C728-8322-F913-FC3D-61989AD8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25B31-6E41-7D72-8F79-5C3E2AF0B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DC6F0-622A-002E-BFCF-D87A37AB6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92A89-555E-B62D-5B78-9DCC5EB3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D0B85-3ACC-48C6-B1C0-937758A7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4A49F-5D51-3BEE-33EA-BAF4D08F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72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1C78-E7A6-C465-3F75-4A1CC57D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5E1EB-4C01-F3D7-FA33-39770DDC0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5EFDD-7058-19BF-2B9E-DB1618E9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E6E40-0563-71C7-B085-5A42D5C8C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41D96-B9EE-0DB1-C432-B20A5D8AD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89C6B9-827E-5358-C345-7B6AF59F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BF1D98-2899-13D4-6A86-4B326542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8FA5F3-E1F2-D263-109C-E18ADBD4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11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C727C-C814-0F7C-EADD-25D0C006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3065E3-3CB0-667C-2811-DC33B69F2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265D0-7FB2-4686-B7DA-58080C95C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1DDDD-7D37-9B2A-FED9-47BDE9E31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768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FC5FF3-4C13-5CCA-192E-7DA942C7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901933-70FA-5CD5-1EB9-167379CA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2FE5C-1D64-034A-9C8F-33A8BB37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69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E722-DCE4-D865-9848-90C591F2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753E4-9154-A5DB-E2E3-D98350867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83173-34EA-A22F-07E4-8B4D1B224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1E62A-D22C-D200-06A2-ECF6B9F24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7B057-AA8E-268A-776A-84DBE748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E7AB2-0D11-7732-95FE-4691AAD3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849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24FF-7798-FB1E-8C1E-DCAB54A04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390DEE-B826-FC30-B7EE-066FC7A971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43094-690E-9209-63B5-BE88A6371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7B875-746B-D4CF-2F3D-0527AF027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B941F-95D8-60C5-706D-BC753225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8AD45-7A38-6278-51D4-E417F0C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719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6B78-AEA9-0791-3292-1BC8F6999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B7B239-EB93-4375-D4C6-4E89695DB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13085-8D12-2978-16BF-FC291528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E323B-A113-E7C6-1B27-032E0FA3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621EA-ED8E-F896-7AEC-30C274AD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84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59B7-B7BA-CFD5-3FE2-9A1EDBA28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6DB1A-84BF-2453-A574-DDE27197B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4935F-1511-5B21-5DC1-AA63FBA1E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7DE94-D298-2039-8DA9-69D52615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13CFA-4FCB-4298-4A15-8879CDF97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082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D0EF2-DDDF-57F2-70A7-9447C8786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F2967-64B8-049C-CAB6-CF7767AA5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45321-0702-B69E-3EC0-ADE6425AA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81645-E446-4F75-A609-A8AAE9F59E20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4F73A-C350-49B3-D057-7391EFAC6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78F95-D20D-EEF7-C059-2EEDB34DE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514BF-D6C7-4DC0-AE91-F3D74E83F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38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A03519-9819-E29C-A9F0-223361B8CCDC}"/>
              </a:ext>
            </a:extLst>
          </p:cNvPr>
          <p:cNvSpPr txBox="1"/>
          <p:nvPr/>
        </p:nvSpPr>
        <p:spPr>
          <a:xfrm>
            <a:off x="930442" y="224590"/>
            <a:ext cx="10331116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 dirty="0"/>
              <a:t>CUSTOMER SEGMENTATION</a:t>
            </a:r>
          </a:p>
          <a:p>
            <a:pPr algn="ctr">
              <a:buNone/>
            </a:pPr>
            <a:endParaRPr lang="en-IN" sz="4400" b="1" dirty="0"/>
          </a:p>
          <a:p>
            <a:pPr algn="ctr">
              <a:buNone/>
            </a:pPr>
            <a:endParaRPr lang="en-IN" sz="4400" b="1" dirty="0"/>
          </a:p>
          <a:p>
            <a:pPr>
              <a:buNone/>
            </a:pPr>
            <a:r>
              <a:rPr lang="en-IN" sz="2400" b="1" dirty="0"/>
              <a:t>Prepared </a:t>
            </a:r>
            <a:r>
              <a:rPr lang="en-IN" sz="2400" b="1" dirty="0" smtClean="0"/>
              <a:t>By</a:t>
            </a:r>
            <a:r>
              <a:rPr lang="en-IN" b="1" dirty="0" smtClean="0"/>
              <a:t>: </a:t>
            </a:r>
            <a:r>
              <a:rPr lang="en-IN" dirty="0" smtClean="0"/>
              <a:t>R. </a:t>
            </a:r>
            <a:r>
              <a:rPr lang="en-IN" dirty="0" err="1" smtClean="0"/>
              <a:t>Prasanth</a:t>
            </a:r>
            <a:r>
              <a:rPr lang="en-IN" dirty="0" smtClean="0"/>
              <a:t> </a:t>
            </a:r>
            <a:r>
              <a:rPr lang="en-IN" dirty="0" smtClean="0"/>
              <a:t>Kumar Reddy</a:t>
            </a:r>
          </a:p>
          <a:p>
            <a:pPr>
              <a:buNone/>
            </a:pPr>
            <a:endParaRPr lang="en-IN" dirty="0"/>
          </a:p>
          <a:p>
            <a:pPr algn="just">
              <a:buNone/>
            </a:pPr>
            <a:r>
              <a:rPr lang="en-IN" sz="2400" b="1" dirty="0"/>
              <a:t>Tools Used</a:t>
            </a:r>
            <a:r>
              <a:rPr lang="en-IN" b="1" dirty="0" smtClean="0"/>
              <a:t>: </a:t>
            </a:r>
            <a:r>
              <a:rPr lang="en-IN" dirty="0" smtClean="0"/>
              <a:t>Power </a:t>
            </a:r>
            <a:r>
              <a:rPr lang="en-IN" dirty="0"/>
              <a:t>BI | SQL | Excel | Power Query | DAX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2400" b="1" dirty="0"/>
              <a:t>Project </a:t>
            </a:r>
            <a:r>
              <a:rPr lang="en-IN" sz="2400" b="1" dirty="0" smtClean="0"/>
              <a:t>Objective</a:t>
            </a:r>
            <a:r>
              <a:rPr lang="en-IN" b="1" dirty="0" smtClean="0"/>
              <a:t>: </a:t>
            </a:r>
            <a:r>
              <a:rPr lang="en-IN" dirty="0" err="1" smtClean="0"/>
              <a:t>Analyze</a:t>
            </a:r>
            <a:r>
              <a:rPr lang="en-IN" dirty="0" smtClean="0"/>
              <a:t> </a:t>
            </a:r>
            <a:r>
              <a:rPr lang="en-IN" dirty="0"/>
              <a:t>customer purchasing </a:t>
            </a:r>
            <a:r>
              <a:rPr lang="en-IN" dirty="0" err="1"/>
              <a:t>behavior</a:t>
            </a:r>
            <a:r>
              <a:rPr lang="en-IN" dirty="0"/>
              <a:t> based on demographics, product categories, shopping malls, payment methods, and age groups to identify customer segments and generate actionable business insights.</a:t>
            </a:r>
          </a:p>
          <a:p>
            <a:pPr>
              <a:buNone/>
            </a:pPr>
            <a:r>
              <a:rPr lang="en-IN" sz="2400" b="1" dirty="0"/>
              <a:t>Project Type</a:t>
            </a:r>
            <a:r>
              <a:rPr lang="en-IN" b="1" dirty="0"/>
              <a:t>:</a:t>
            </a:r>
            <a:r>
              <a:rPr lang="en-IN" dirty="0"/>
              <a:t> Data Analytics Portfolio project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2400" b="1" dirty="0"/>
              <a:t>Date</a:t>
            </a:r>
            <a:r>
              <a:rPr lang="en-IN" b="1" dirty="0" smtClean="0"/>
              <a:t>: </a:t>
            </a:r>
            <a:r>
              <a:rPr lang="en-IN" dirty="0" smtClean="0"/>
              <a:t>July </a:t>
            </a:r>
            <a:r>
              <a:rPr lang="en-IN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81599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EF18ED-9194-16DE-A6A2-3B58F8302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235" y="229923"/>
            <a:ext cx="9165516" cy="624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8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0CEDD4-4CEC-0DFD-1E20-B7EC5425CEC6}"/>
              </a:ext>
            </a:extLst>
          </p:cNvPr>
          <p:cNvSpPr/>
          <p:nvPr/>
        </p:nvSpPr>
        <p:spPr>
          <a:xfrm>
            <a:off x="864587" y="640641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4000"/>
              </a:lnSpc>
            </a:pPr>
            <a:r>
              <a:rPr lang="en-IN" sz="3200" b="1" dirty="0"/>
              <a:t>Key Performance Indicators (KPIs)</a:t>
            </a:r>
            <a:endParaRPr lang="en-US" sz="32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119752-67E2-D1CA-5060-76DA90377C27}"/>
              </a:ext>
            </a:extLst>
          </p:cNvPr>
          <p:cNvSpPr/>
          <p:nvPr/>
        </p:nvSpPr>
        <p:spPr>
          <a:xfrm>
            <a:off x="5902642" y="1534523"/>
            <a:ext cx="5078408" cy="3488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9000"/>
              </a:lnSpc>
            </a:pPr>
            <a:r>
              <a:rPr lang="en-IN" sz="1600" b="1" dirty="0"/>
              <a:t>Total Revenue (251.51M):</a:t>
            </a:r>
            <a:r>
              <a:rPr lang="en-IN" sz="1600" dirty="0"/>
              <a:t> The business generated a total revenue of </a:t>
            </a:r>
            <a:r>
              <a:rPr lang="en-IN" sz="1600" b="1" dirty="0"/>
              <a:t>251.51M</a:t>
            </a:r>
            <a:r>
              <a:rPr lang="en-IN" sz="1600" dirty="0"/>
              <a:t>, indicating strong overall sales performance.</a:t>
            </a:r>
          </a:p>
          <a:p>
            <a:pPr>
              <a:lnSpc>
                <a:spcPct val="129000"/>
              </a:lnSpc>
            </a:pPr>
            <a:r>
              <a:rPr lang="en-IN" sz="1600" b="1" dirty="0"/>
              <a:t>Total Orders (99K):</a:t>
            </a:r>
            <a:r>
              <a:rPr lang="en-IN" sz="1600" dirty="0"/>
              <a:t> Approximately </a:t>
            </a:r>
            <a:r>
              <a:rPr lang="en-IN" sz="1600" b="1" dirty="0"/>
              <a:t>99,000 orders</a:t>
            </a:r>
            <a:r>
              <a:rPr lang="en-IN" sz="1600" dirty="0"/>
              <a:t> were successfully completed during the analysis period.</a:t>
            </a:r>
          </a:p>
          <a:p>
            <a:pPr>
              <a:lnSpc>
                <a:spcPct val="129000"/>
              </a:lnSpc>
            </a:pPr>
            <a:r>
              <a:rPr lang="en-IN" sz="1600" b="1" dirty="0"/>
              <a:t>Total Quantity (299K):</a:t>
            </a:r>
            <a:r>
              <a:rPr lang="en-IN" sz="1600" dirty="0"/>
              <a:t> A total of </a:t>
            </a:r>
            <a:r>
              <a:rPr lang="en-IN" sz="1600" b="1" dirty="0"/>
              <a:t>299,000 products</a:t>
            </a:r>
            <a:r>
              <a:rPr lang="en-IN" sz="1600" dirty="0"/>
              <a:t> were sold, reflecting high customer demand. </a:t>
            </a:r>
          </a:p>
          <a:p>
            <a:pPr>
              <a:lnSpc>
                <a:spcPct val="129000"/>
              </a:lnSpc>
            </a:pPr>
            <a:r>
              <a:rPr lang="en-IN" sz="1600" b="1" dirty="0"/>
              <a:t>Average Order Value (2.53K):</a:t>
            </a:r>
            <a:r>
              <a:rPr lang="en-IN" sz="1600" dirty="0"/>
              <a:t> Customers spent an average of </a:t>
            </a:r>
            <a:r>
              <a:rPr lang="en-IN" sz="1600" b="1" dirty="0"/>
              <a:t>2.53K per order</a:t>
            </a:r>
            <a:r>
              <a:rPr lang="en-IN" sz="1600" dirty="0"/>
              <a:t>, showing healthy purchasing </a:t>
            </a:r>
            <a:r>
              <a:rPr lang="en-IN" sz="1600" dirty="0" err="1"/>
              <a:t>behavior</a:t>
            </a:r>
            <a:r>
              <a:rPr lang="en-IN" sz="1600" dirty="0"/>
              <a:t>. </a:t>
            </a:r>
          </a:p>
          <a:p>
            <a:pPr>
              <a:lnSpc>
                <a:spcPct val="129000"/>
              </a:lnSpc>
            </a:pPr>
            <a:r>
              <a:rPr lang="en-IN" sz="1600" b="1" dirty="0"/>
              <a:t>Total Customers (99.457K):</a:t>
            </a:r>
            <a:r>
              <a:rPr lang="en-IN" sz="1600" dirty="0"/>
              <a:t> The business served nearly </a:t>
            </a:r>
            <a:r>
              <a:rPr lang="en-IN" sz="1600" b="1" dirty="0"/>
              <a:t>99.5K unique customers</a:t>
            </a:r>
            <a:r>
              <a:rPr lang="en-IN" sz="1600" dirty="0"/>
              <a:t>, demonstrating a broad customer base.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85CECF3-6555-7566-032E-77DD3BB021F7}"/>
              </a:ext>
            </a:extLst>
          </p:cNvPr>
          <p:cNvSpPr/>
          <p:nvPr/>
        </p:nvSpPr>
        <p:spPr>
          <a:xfrm>
            <a:off x="5902641" y="5335193"/>
            <a:ext cx="5424771" cy="882166"/>
          </a:xfrm>
          <a:prstGeom prst="roundRect">
            <a:avLst>
              <a:gd name="adj" fmla="val 283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69AE08DD-EE82-C2F7-6BEF-AB0037712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118" y="5553524"/>
            <a:ext cx="166092" cy="13290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A99B8D8B-E4A2-3CBF-25FD-9FC746483E2D}"/>
              </a:ext>
            </a:extLst>
          </p:cNvPr>
          <p:cNvSpPr/>
          <p:nvPr/>
        </p:nvSpPr>
        <p:spPr>
          <a:xfrm>
            <a:off x="6339777" y="5480450"/>
            <a:ext cx="377279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9000"/>
              </a:lnSpc>
            </a:pPr>
            <a:r>
              <a:rPr lang="en-IN" sz="1100" dirty="0"/>
              <a:t>Overall, the business achieved strong performance with 251.51M revenue, 99K orders, 299K products sold, an average order value of 2.53K, and nearly 100K customers.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7B1388-1116-D820-28A1-4BFA043481D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87" y="1871638"/>
            <a:ext cx="4220760" cy="281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2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0CEDD4-4CEC-0DFD-1E20-B7EC5425CEC6}"/>
              </a:ext>
            </a:extLst>
          </p:cNvPr>
          <p:cNvSpPr/>
          <p:nvPr/>
        </p:nvSpPr>
        <p:spPr>
          <a:xfrm>
            <a:off x="864587" y="416051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4000"/>
              </a:lnSpc>
            </a:pPr>
            <a:r>
              <a:rPr lang="en-IN" sz="3200" b="1" dirty="0"/>
              <a:t>Shopping Distribution by Gender</a:t>
            </a:r>
            <a:endParaRPr lang="en-US" sz="32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119752-67E2-D1CA-5060-76DA90377C27}"/>
              </a:ext>
            </a:extLst>
          </p:cNvPr>
          <p:cNvSpPr/>
          <p:nvPr/>
        </p:nvSpPr>
        <p:spPr>
          <a:xfrm>
            <a:off x="5759116" y="1534523"/>
            <a:ext cx="5221934" cy="3488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9000"/>
              </a:lnSpc>
            </a:pPr>
            <a:r>
              <a:rPr lang="en-IN" sz="2400" dirty="0"/>
              <a:t>*Female customers account for </a:t>
            </a:r>
            <a:r>
              <a:rPr lang="en-IN" sz="2400" b="1" dirty="0"/>
              <a:t>59.81%</a:t>
            </a:r>
            <a:r>
              <a:rPr lang="en-IN" sz="2400" dirty="0"/>
              <a:t> of total purchases.</a:t>
            </a:r>
          </a:p>
          <a:p>
            <a:pPr>
              <a:lnSpc>
                <a:spcPct val="129000"/>
              </a:lnSpc>
            </a:pPr>
            <a:r>
              <a:rPr lang="en-IN" sz="2400" dirty="0"/>
              <a:t>*Male customers contribute</a:t>
            </a:r>
            <a:r>
              <a:rPr lang="en-IN" sz="2400" b="1" dirty="0"/>
              <a:t>40.19%</a:t>
            </a:r>
            <a:r>
              <a:rPr lang="en-IN" sz="2400" dirty="0"/>
              <a:t>.</a:t>
            </a:r>
          </a:p>
          <a:p>
            <a:pPr>
              <a:lnSpc>
                <a:spcPct val="129000"/>
              </a:lnSpc>
            </a:pPr>
            <a:r>
              <a:rPr lang="en-IN" sz="2400" dirty="0"/>
              <a:t>*Female shoppers are the dominant customer segment. </a:t>
            </a:r>
          </a:p>
          <a:p>
            <a:pPr>
              <a:lnSpc>
                <a:spcPct val="129000"/>
              </a:lnSpc>
            </a:pPr>
            <a:r>
              <a:rPr lang="en-IN" sz="2400" dirty="0"/>
              <a:t>*Marketing campaigns should prioritize female customer preferences.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2442B4-18E7-1E4A-02CF-9C481B076C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66" y="1534523"/>
            <a:ext cx="3965232" cy="317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49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5CB4E95-0300-0F5D-7C71-6EDD7F1C537E}"/>
              </a:ext>
            </a:extLst>
          </p:cNvPr>
          <p:cNvSpPr/>
          <p:nvPr/>
        </p:nvSpPr>
        <p:spPr>
          <a:xfrm>
            <a:off x="620810" y="394591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200" b="1" dirty="0"/>
              <a:t>Revenue Contribution Analysis</a:t>
            </a:r>
            <a:endParaRPr lang="en-US" sz="32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75A8F57-75C7-2524-3F60-84957C80B059}"/>
              </a:ext>
            </a:extLst>
          </p:cNvPr>
          <p:cNvSpPr/>
          <p:nvPr/>
        </p:nvSpPr>
        <p:spPr>
          <a:xfrm>
            <a:off x="4491788" y="1026694"/>
            <a:ext cx="6801853" cy="478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IN" dirty="0"/>
              <a:t>*Female customers generated the highest revenue (~150M), outperforming male customers (~100M), making them the primary revenue contributors.</a:t>
            </a:r>
          </a:p>
          <a:p>
            <a:pPr>
              <a:lnSpc>
                <a:spcPct val="129000"/>
              </a:lnSpc>
            </a:pPr>
            <a:endParaRPr lang="en-IN" dirty="0"/>
          </a:p>
          <a:p>
            <a:pPr>
              <a:lnSpc>
                <a:spcPct val="129000"/>
              </a:lnSpc>
            </a:pPr>
            <a:r>
              <a:rPr lang="en-IN" dirty="0"/>
              <a:t>*Cash is the most revenue-generating payment method (~110M), followed by Credit Card (~90M), while Debit Card contributes the least (~50M). </a:t>
            </a:r>
          </a:p>
          <a:p>
            <a:pPr>
              <a:lnSpc>
                <a:spcPct val="129000"/>
              </a:lnSpc>
            </a:pPr>
            <a:endParaRPr lang="en-IN" dirty="0"/>
          </a:p>
          <a:p>
            <a:pPr>
              <a:lnSpc>
                <a:spcPct val="129000"/>
              </a:lnSpc>
            </a:pPr>
            <a:r>
              <a:rPr lang="en-IN" dirty="0"/>
              <a:t>*The business relies heavily on female shoppers and cash transactions for overall revenue generation. </a:t>
            </a:r>
          </a:p>
          <a:p>
            <a:pPr>
              <a:lnSpc>
                <a:spcPct val="129000"/>
              </a:lnSpc>
            </a:pPr>
            <a:endParaRPr lang="en-IN" dirty="0"/>
          </a:p>
          <a:p>
            <a:pPr>
              <a:lnSpc>
                <a:spcPct val="129000"/>
              </a:lnSpc>
            </a:pPr>
            <a:r>
              <a:rPr lang="en-IN" dirty="0"/>
              <a:t>*Increasing digital payment adoption through card offers and loyalty rewards presents an opportunity to boost card-based revenue.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B9F88E-7FE3-9B5E-6D76-7F6DC34408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012" y="3725729"/>
            <a:ext cx="2160333" cy="22455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81145F1-DEC3-E9D9-2AC7-5953E61A8A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02" y="1181526"/>
            <a:ext cx="2067649" cy="224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50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0CEDD4-4CEC-0DFD-1E20-B7EC5425CEC6}"/>
              </a:ext>
            </a:extLst>
          </p:cNvPr>
          <p:cNvSpPr/>
          <p:nvPr/>
        </p:nvSpPr>
        <p:spPr>
          <a:xfrm>
            <a:off x="237737" y="432988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4000"/>
              </a:lnSpc>
            </a:pPr>
            <a:r>
              <a:rPr lang="en-IN" sz="3200" b="1" dirty="0"/>
              <a:t>Revenue Contribution by Gender and Payment Method</a:t>
            </a:r>
            <a:endParaRPr lang="en-US" sz="32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119752-67E2-D1CA-5060-76DA90377C27}"/>
              </a:ext>
            </a:extLst>
          </p:cNvPr>
          <p:cNvSpPr/>
          <p:nvPr/>
        </p:nvSpPr>
        <p:spPr>
          <a:xfrm>
            <a:off x="6073084" y="1593530"/>
            <a:ext cx="5424771" cy="3657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Gender revenue summary:</a:t>
            </a:r>
            <a:r>
              <a:rPr lang="en-IN" sz="1600" dirty="0"/>
              <a:t> Female customers contribute significantly more revenue than male customers, indicating they are the primary revenue-driving customer segment.</a:t>
            </a:r>
          </a:p>
          <a:p>
            <a:r>
              <a:rPr lang="en-IN" sz="1600" b="1" dirty="0"/>
              <a:t>Highest revenue contributor (Gender):</a:t>
            </a:r>
            <a:r>
              <a:rPr lang="en-IN" sz="1600" dirty="0"/>
              <a:t> Female customers generated approximately </a:t>
            </a:r>
            <a:r>
              <a:rPr lang="en-IN" sz="1600" b="1" dirty="0"/>
              <a:t>150M</a:t>
            </a:r>
            <a:r>
              <a:rPr lang="en-IN" sz="1600" dirty="0"/>
              <a:t> in revenue, outperforming male customers by a substantial margin.</a:t>
            </a:r>
          </a:p>
          <a:p>
            <a:r>
              <a:rPr lang="en-IN" sz="1600" b="1" dirty="0"/>
              <a:t>Payment method performance:</a:t>
            </a:r>
            <a:r>
              <a:rPr lang="en-IN" sz="1600" dirty="0"/>
              <a:t> Cash is the leading payment method in terms of revenue, followed by Credit Card, while Debit Card contributes the least.</a:t>
            </a:r>
          </a:p>
          <a:p>
            <a:r>
              <a:rPr lang="en-IN" sz="1600" b="1" dirty="0"/>
              <a:t>Business implication:</a:t>
            </a:r>
            <a:r>
              <a:rPr lang="en-IN" sz="1600" dirty="0"/>
              <a:t> Revenue is largely driven by female shoppers and cash transactions, suggesting opportunities to strengthen customer engagement and encourage greater adoption of digital payment methods through targeted offers and rewards.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0B7EC7-15A9-D90E-675C-FA601975F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38" y="1593530"/>
            <a:ext cx="4607269" cy="320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63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0CEDD4-4CEC-0DFD-1E20-B7EC5425CEC6}"/>
              </a:ext>
            </a:extLst>
          </p:cNvPr>
          <p:cNvSpPr/>
          <p:nvPr/>
        </p:nvSpPr>
        <p:spPr>
          <a:xfrm>
            <a:off x="623956" y="544388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4000"/>
              </a:lnSpc>
            </a:pPr>
            <a:r>
              <a:rPr lang="en-IN" sz="3200" b="1" dirty="0"/>
              <a:t>Shopping Mall Revenue Analysis</a:t>
            </a:r>
            <a:endParaRPr lang="en-US" sz="32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119752-67E2-D1CA-5060-76DA90377C27}"/>
              </a:ext>
            </a:extLst>
          </p:cNvPr>
          <p:cNvSpPr/>
          <p:nvPr/>
        </p:nvSpPr>
        <p:spPr>
          <a:xfrm>
            <a:off x="5902642" y="1534523"/>
            <a:ext cx="5078408" cy="3488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Revenue distribution:</a:t>
            </a:r>
            <a:r>
              <a:rPr lang="en-IN" sz="1600" dirty="0"/>
              <a:t> Revenue is concentrated among a few top-performing shopping malls, while the remaining malls contribute comparatively lower sales.</a:t>
            </a:r>
          </a:p>
          <a:p>
            <a:r>
              <a:rPr lang="en-IN" sz="1600" b="1" dirty="0"/>
              <a:t>Highest revenue-generating mall:</a:t>
            </a:r>
            <a:r>
              <a:rPr lang="en-IN" sz="1600" dirty="0"/>
              <a:t> </a:t>
            </a:r>
            <a:r>
              <a:rPr lang="en-IN" sz="1600" b="1" dirty="0"/>
              <a:t>Mall of Istanbul</a:t>
            </a:r>
            <a:r>
              <a:rPr lang="en-IN" sz="1600" dirty="0"/>
              <a:t> generated the highest revenue (approximately </a:t>
            </a:r>
            <a:r>
              <a:rPr lang="en-IN" sz="1600" b="1" dirty="0"/>
              <a:t>50M</a:t>
            </a:r>
            <a:r>
              <a:rPr lang="en-IN" sz="1600" dirty="0"/>
              <a:t>), making it the strongest-performing shopping location.</a:t>
            </a:r>
          </a:p>
          <a:p>
            <a:r>
              <a:rPr lang="en-IN" sz="1600" b="1" dirty="0"/>
              <a:t>Lowest revenue-generating malls:</a:t>
            </a:r>
            <a:r>
              <a:rPr lang="en-IN" sz="1600" dirty="0"/>
              <a:t> </a:t>
            </a:r>
            <a:r>
              <a:rPr lang="en-IN" sz="1600" b="1" dirty="0"/>
              <a:t>Emaar Square Mall</a:t>
            </a:r>
            <a:r>
              <a:rPr lang="en-IN" sz="1600" dirty="0"/>
              <a:t> and </a:t>
            </a:r>
            <a:r>
              <a:rPr lang="en-IN" sz="1600" b="1" dirty="0"/>
              <a:t>Forum Istanbul</a:t>
            </a:r>
            <a:r>
              <a:rPr lang="en-IN" sz="1600" dirty="0"/>
              <a:t> recorded the lowest revenue, indicating lower customer spending or footfall.</a:t>
            </a:r>
          </a:p>
          <a:p>
            <a:r>
              <a:rPr lang="en-IN" sz="1600" b="1" dirty="0"/>
              <a:t>Business implication:</a:t>
            </a:r>
            <a:r>
              <a:rPr lang="en-IN" sz="1600" dirty="0"/>
              <a:t> The top-performing malls should be prioritized for inventory expansion and marketing campaigns, while lower-performing malls may require targeted promotions and customer engagement strategies to improve sales</a:t>
            </a:r>
            <a:r>
              <a:rPr lang="en-IN" sz="14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24CF9C-DE3E-1934-98B2-1C20A736D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66" y="1733826"/>
            <a:ext cx="3947624" cy="339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5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0CEDD4-4CEC-0DFD-1E20-B7EC5425CEC6}"/>
              </a:ext>
            </a:extLst>
          </p:cNvPr>
          <p:cNvSpPr/>
          <p:nvPr/>
        </p:nvSpPr>
        <p:spPr>
          <a:xfrm>
            <a:off x="456304" y="432988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4000"/>
              </a:lnSpc>
            </a:pPr>
            <a:r>
              <a:rPr lang="en-IN" sz="3200" b="1" dirty="0"/>
              <a:t>Shopping Distribution by Age Group </a:t>
            </a:r>
            <a:endParaRPr lang="en-US" sz="32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119752-67E2-D1CA-5060-76DA90377C27}"/>
              </a:ext>
            </a:extLst>
          </p:cNvPr>
          <p:cNvSpPr/>
          <p:nvPr/>
        </p:nvSpPr>
        <p:spPr>
          <a:xfrm>
            <a:off x="5694947" y="1534523"/>
            <a:ext cx="5883473" cy="382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Shopping distribution:</a:t>
            </a:r>
            <a:r>
              <a:rPr lang="en-IN" dirty="0"/>
              <a:t> Customers aged </a:t>
            </a:r>
            <a:r>
              <a:rPr lang="en-IN" b="1" dirty="0"/>
              <a:t>26–65</a:t>
            </a:r>
            <a:r>
              <a:rPr lang="en-IN" dirty="0"/>
              <a:t> account for the majority of product purchases, indicating that middle-aged customers are the most active shoppers.</a:t>
            </a:r>
          </a:p>
          <a:p>
            <a:r>
              <a:rPr lang="en-IN" b="1" dirty="0"/>
              <a:t>Highest shopping age group:</a:t>
            </a:r>
            <a:r>
              <a:rPr lang="en-IN" dirty="0"/>
              <a:t> The </a:t>
            </a:r>
            <a:r>
              <a:rPr lang="en-IN" b="1" dirty="0"/>
              <a:t>36–45</a:t>
            </a:r>
            <a:r>
              <a:rPr lang="en-IN" dirty="0"/>
              <a:t>, </a:t>
            </a:r>
            <a:r>
              <a:rPr lang="en-IN" b="1" dirty="0"/>
              <a:t>26–35</a:t>
            </a:r>
            <a:r>
              <a:rPr lang="en-IN" dirty="0"/>
              <a:t>, </a:t>
            </a:r>
            <a:r>
              <a:rPr lang="en-IN" b="1" dirty="0"/>
              <a:t>46–55</a:t>
            </a:r>
            <a:r>
              <a:rPr lang="en-IN" dirty="0"/>
              <a:t>, and </a:t>
            </a:r>
            <a:r>
              <a:rPr lang="en-IN" b="1" dirty="0"/>
              <a:t>56–65</a:t>
            </a:r>
            <a:r>
              <a:rPr lang="en-IN" dirty="0"/>
              <a:t> age groups record the highest purchase volumes, each contributing significantly to total products sold.</a:t>
            </a:r>
          </a:p>
          <a:p>
            <a:r>
              <a:rPr lang="en-IN" b="1" dirty="0"/>
              <a:t>Lowest shopping age group:</a:t>
            </a:r>
            <a:r>
              <a:rPr lang="en-IN" dirty="0"/>
              <a:t> The </a:t>
            </a:r>
            <a:r>
              <a:rPr lang="en-IN" b="1" dirty="0"/>
              <a:t>Under 18</a:t>
            </a:r>
            <a:r>
              <a:rPr lang="en-IN" dirty="0"/>
              <a:t> age group has the fewest purchases, followed by customers aged </a:t>
            </a:r>
            <a:r>
              <a:rPr lang="en-IN" b="1" dirty="0"/>
              <a:t>65+</a:t>
            </a:r>
            <a:r>
              <a:rPr lang="en-IN" dirty="0"/>
              <a:t>, reflecting lower shopping activity.</a:t>
            </a:r>
          </a:p>
          <a:p>
            <a:r>
              <a:rPr lang="en-IN" b="1" dirty="0"/>
              <a:t>Business implication:</a:t>
            </a:r>
            <a:r>
              <a:rPr lang="en-IN" dirty="0"/>
              <a:t> Marketing strategies should continue focusing on the </a:t>
            </a:r>
            <a:r>
              <a:rPr lang="en-IN" b="1" dirty="0"/>
              <a:t>26–65</a:t>
            </a:r>
            <a:r>
              <a:rPr lang="en-IN" dirty="0"/>
              <a:t> age segment while introducing targeted campaigns and promotions to increase engagement among younger and senior customers</a:t>
            </a:r>
            <a:r>
              <a:rPr lang="en-IN" sz="14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75FCC3-8013-7DF7-5E1F-3F3D3F8F7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26" y="1534523"/>
            <a:ext cx="4642629" cy="348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46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AEE57EA-BEFD-FED2-22B2-0D7BF1CB20D5}"/>
              </a:ext>
            </a:extLst>
          </p:cNvPr>
          <p:cNvSpPr/>
          <p:nvPr/>
        </p:nvSpPr>
        <p:spPr>
          <a:xfrm>
            <a:off x="396221" y="342237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200" b="1" dirty="0"/>
              <a:t>Payment Method Distribution</a:t>
            </a:r>
            <a:endParaRPr lang="en-US" sz="32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6B31097-A961-6D61-2EAF-97E4B055A536}"/>
              </a:ext>
            </a:extLst>
          </p:cNvPr>
          <p:cNvSpPr/>
          <p:nvPr/>
        </p:nvSpPr>
        <p:spPr>
          <a:xfrm>
            <a:off x="5658864" y="1288473"/>
            <a:ext cx="5703055" cy="3488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b="1" dirty="0"/>
              <a:t>Payment method preference:</a:t>
            </a:r>
            <a:r>
              <a:rPr lang="en-IN" dirty="0"/>
              <a:t> Customers predominantly prefer </a:t>
            </a:r>
            <a:r>
              <a:rPr lang="en-IN" b="1" dirty="0"/>
              <a:t>Cash</a:t>
            </a:r>
            <a:r>
              <a:rPr lang="en-IN" dirty="0"/>
              <a:t> for their purchases, followed by </a:t>
            </a:r>
            <a:r>
              <a:rPr lang="en-IN" b="1" dirty="0"/>
              <a:t>Credit Card</a:t>
            </a:r>
            <a:r>
              <a:rPr lang="en-IN" dirty="0"/>
              <a:t>, while </a:t>
            </a:r>
            <a:r>
              <a:rPr lang="en-IN" b="1" dirty="0"/>
              <a:t>Debit Card</a:t>
            </a:r>
            <a:r>
              <a:rPr lang="en-IN" dirty="0"/>
              <a:t> is the least used payment method.</a:t>
            </a:r>
          </a:p>
          <a:p>
            <a:r>
              <a:rPr lang="en-IN" b="1" dirty="0"/>
              <a:t>Most preferred payment method:</a:t>
            </a:r>
            <a:r>
              <a:rPr lang="en-IN" dirty="0"/>
              <a:t> </a:t>
            </a:r>
            <a:r>
              <a:rPr lang="en-IN" b="1" dirty="0"/>
              <a:t>Cash</a:t>
            </a:r>
            <a:r>
              <a:rPr lang="en-IN" dirty="0"/>
              <a:t> accounts for the highest share of transactions (</a:t>
            </a:r>
            <a:r>
              <a:rPr lang="en-IN" b="1" dirty="0"/>
              <a:t>44.69%</a:t>
            </a:r>
            <a:r>
              <a:rPr lang="en-IN" dirty="0"/>
              <a:t>), highlighting its popularity among customers.</a:t>
            </a:r>
          </a:p>
          <a:p>
            <a:r>
              <a:rPr lang="en-IN" b="1" dirty="0"/>
              <a:t>Least preferred payment method:</a:t>
            </a:r>
            <a:r>
              <a:rPr lang="en-IN" dirty="0"/>
              <a:t> </a:t>
            </a:r>
            <a:r>
              <a:rPr lang="en-IN" b="1" dirty="0"/>
              <a:t>Debit Card</a:t>
            </a:r>
            <a:r>
              <a:rPr lang="en-IN" dirty="0"/>
              <a:t> represents the smallest share of transactions (</a:t>
            </a:r>
            <a:r>
              <a:rPr lang="en-IN" b="1" dirty="0"/>
              <a:t>20.19%</a:t>
            </a:r>
            <a:r>
              <a:rPr lang="en-IN" dirty="0"/>
              <a:t>), indicating lower customer adoption.</a:t>
            </a:r>
          </a:p>
          <a:p>
            <a:r>
              <a:rPr lang="en-IN" b="1" dirty="0"/>
              <a:t>Business implication:</a:t>
            </a:r>
            <a:r>
              <a:rPr lang="en-IN" dirty="0"/>
              <a:t> While cash remains the dominant payment method, encouraging digital payments through cashback offers, discounts, and loyalty rewards can increase Credit Card and Debit Card usage while improving transaction efficiency.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AC9D60-FCD1-558E-9B6D-DAB3C25E5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80" y="1338735"/>
            <a:ext cx="4308172" cy="323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87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869FAF1-F3EE-CD96-22C1-3536DCFE7ADB}"/>
              </a:ext>
            </a:extLst>
          </p:cNvPr>
          <p:cNvSpPr/>
          <p:nvPr/>
        </p:nvSpPr>
        <p:spPr>
          <a:xfrm>
            <a:off x="212527" y="342237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200" b="1" dirty="0"/>
              <a:t>Monthly Revenue Trend</a:t>
            </a:r>
            <a:endParaRPr lang="en-US" sz="32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7CF9257-EAF4-6D00-66A1-116151BD90DE}"/>
              </a:ext>
            </a:extLst>
          </p:cNvPr>
          <p:cNvSpPr/>
          <p:nvPr/>
        </p:nvSpPr>
        <p:spPr>
          <a:xfrm>
            <a:off x="5658865" y="1288473"/>
            <a:ext cx="5883472" cy="402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b="1" dirty="0"/>
              <a:t>Revenue trend:</a:t>
            </a:r>
            <a:r>
              <a:rPr lang="en-IN" dirty="0"/>
              <a:t> Revenue starts at its highest level in </a:t>
            </a:r>
            <a:r>
              <a:rPr lang="en-IN" b="1" dirty="0"/>
              <a:t>January</a:t>
            </a:r>
            <a:r>
              <a:rPr lang="en-IN" dirty="0"/>
              <a:t>, declines during the first half of the year, and remains relatively stable with minor fluctuations thereafter.</a:t>
            </a:r>
          </a:p>
          <a:p>
            <a:endParaRPr lang="en-IN" dirty="0"/>
          </a:p>
          <a:p>
            <a:r>
              <a:rPr lang="en-IN" b="1" dirty="0"/>
              <a:t>Peak revenue month:</a:t>
            </a:r>
            <a:r>
              <a:rPr lang="en-IN" dirty="0"/>
              <a:t> </a:t>
            </a:r>
            <a:r>
              <a:rPr lang="en-IN" b="1" dirty="0"/>
              <a:t>January</a:t>
            </a:r>
            <a:r>
              <a:rPr lang="en-IN" dirty="0"/>
              <a:t> records the highest monthly revenue, indicating strong customer spending at the beginning of the year.</a:t>
            </a:r>
          </a:p>
          <a:p>
            <a:r>
              <a:rPr lang="en-IN" b="1" dirty="0"/>
              <a:t>Lowest revenue month:</a:t>
            </a:r>
            <a:r>
              <a:rPr lang="en-IN" dirty="0"/>
              <a:t> </a:t>
            </a:r>
            <a:r>
              <a:rPr lang="en-IN" b="1" dirty="0"/>
              <a:t>November</a:t>
            </a:r>
            <a:r>
              <a:rPr lang="en-IN" dirty="0"/>
              <a:t> shows the lowest revenue, reflecting a temporary slowdown in sales performance.</a:t>
            </a:r>
          </a:p>
          <a:p>
            <a:endParaRPr lang="en-IN" dirty="0"/>
          </a:p>
          <a:p>
            <a:r>
              <a:rPr lang="en-IN" b="1" dirty="0"/>
              <a:t>Business implication:</a:t>
            </a:r>
            <a:r>
              <a:rPr lang="en-IN" dirty="0"/>
              <a:t> The business experiences seasonal variations in revenue. </a:t>
            </a:r>
            <a:r>
              <a:rPr lang="en-IN" dirty="0" err="1"/>
              <a:t>Analyzing</a:t>
            </a:r>
            <a:r>
              <a:rPr lang="en-IN" dirty="0"/>
              <a:t> the factors behind January's strong performance and implementing targeted promotions during lower-performing months can help maintain consistent revenue throughout the year.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E53B7E-6FA5-DD53-320A-76BE32F4A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21" y="1314650"/>
            <a:ext cx="4862294" cy="32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90CEA53-658E-4C16-8552-B74F868F02E3}"/>
              </a:ext>
            </a:extLst>
          </p:cNvPr>
          <p:cNvSpPr/>
          <p:nvPr/>
        </p:nvSpPr>
        <p:spPr>
          <a:xfrm>
            <a:off x="396221" y="418385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200" b="1" dirty="0"/>
              <a:t>Revenue by Product Category </a:t>
            </a:r>
            <a:endParaRPr lang="en-US" sz="32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D6CAE04-5267-E40D-9DD4-340C3255E5D2}"/>
              </a:ext>
            </a:extLst>
          </p:cNvPr>
          <p:cNvSpPr/>
          <p:nvPr/>
        </p:nvSpPr>
        <p:spPr>
          <a:xfrm>
            <a:off x="5534526" y="1288472"/>
            <a:ext cx="6007811" cy="4019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b="1" dirty="0"/>
              <a:t>Category performance:</a:t>
            </a:r>
            <a:r>
              <a:rPr lang="en-IN" dirty="0"/>
              <a:t> Revenue is heavily concentrated in a few product categories, with </a:t>
            </a:r>
            <a:r>
              <a:rPr lang="en-IN" b="1" dirty="0"/>
              <a:t>Clothing</a:t>
            </a:r>
            <a:r>
              <a:rPr lang="en-IN" dirty="0"/>
              <a:t>, </a:t>
            </a:r>
            <a:r>
              <a:rPr lang="en-IN" b="1" dirty="0"/>
              <a:t>Shoes</a:t>
            </a:r>
            <a:r>
              <a:rPr lang="en-IN" dirty="0"/>
              <a:t>, and </a:t>
            </a:r>
            <a:r>
              <a:rPr lang="en-IN" b="1" dirty="0"/>
              <a:t>Technology</a:t>
            </a:r>
            <a:r>
              <a:rPr lang="en-IN" dirty="0"/>
              <a:t> contributing the majority of total sales.</a:t>
            </a:r>
          </a:p>
          <a:p>
            <a:endParaRPr lang="en-IN" dirty="0"/>
          </a:p>
          <a:p>
            <a:r>
              <a:rPr lang="en-IN" b="1" dirty="0"/>
              <a:t>Highest revenue-generating category:</a:t>
            </a:r>
            <a:r>
              <a:rPr lang="en-IN" dirty="0"/>
              <a:t> </a:t>
            </a:r>
            <a:r>
              <a:rPr lang="en-IN" b="1" dirty="0"/>
              <a:t>Clothing</a:t>
            </a:r>
            <a:r>
              <a:rPr lang="en-IN" dirty="0"/>
              <a:t> is the top-performing category, generating the highest revenue and serving as the primary driver of business sales.</a:t>
            </a:r>
          </a:p>
          <a:p>
            <a:r>
              <a:rPr lang="en-IN" b="1" dirty="0"/>
              <a:t>Lowest revenue-generating category:</a:t>
            </a:r>
            <a:r>
              <a:rPr lang="en-IN" dirty="0"/>
              <a:t> </a:t>
            </a:r>
            <a:r>
              <a:rPr lang="en-IN" b="1" dirty="0"/>
              <a:t>Books</a:t>
            </a:r>
            <a:r>
              <a:rPr lang="en-IN" dirty="0"/>
              <a:t> and </a:t>
            </a:r>
            <a:r>
              <a:rPr lang="en-IN" b="1" dirty="0"/>
              <a:t>Souvenirs</a:t>
            </a:r>
            <a:r>
              <a:rPr lang="en-IN" dirty="0"/>
              <a:t> contribute the least revenue, indicating comparatively lower customer demand.</a:t>
            </a:r>
          </a:p>
          <a:p>
            <a:endParaRPr lang="en-IN" dirty="0"/>
          </a:p>
          <a:p>
            <a:r>
              <a:rPr lang="en-IN" b="1" dirty="0"/>
              <a:t>Business implication:</a:t>
            </a:r>
            <a:r>
              <a:rPr lang="en-IN" dirty="0"/>
              <a:t> Maintaining strong inventory and promotional efforts for high-performing categories while introducing targeted marketing campaigns for low-performing categories can help maximize overall revenue and improve category performance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5B6B832-CAF9-AC0A-3C6D-08B820BE54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75" y="1364621"/>
            <a:ext cx="3874435" cy="316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47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52F69D7-7568-B66C-B9A2-C50287D9D3EF}"/>
              </a:ext>
            </a:extLst>
          </p:cNvPr>
          <p:cNvSpPr/>
          <p:nvPr/>
        </p:nvSpPr>
        <p:spPr>
          <a:xfrm>
            <a:off x="212527" y="394591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200" b="1" dirty="0"/>
              <a:t>Revenue by Product Category and Age Group</a:t>
            </a:r>
            <a:endParaRPr lang="en-US" sz="32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97BFE06-0A54-9101-8326-C35B25673A52}"/>
              </a:ext>
            </a:extLst>
          </p:cNvPr>
          <p:cNvSpPr/>
          <p:nvPr/>
        </p:nvSpPr>
        <p:spPr>
          <a:xfrm>
            <a:off x="5390147" y="1288473"/>
            <a:ext cx="6152190" cy="4486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b="1" dirty="0"/>
              <a:t>Revenue distribution:</a:t>
            </a:r>
            <a:r>
              <a:rPr lang="en-IN" dirty="0"/>
              <a:t> Customers aged </a:t>
            </a:r>
            <a:r>
              <a:rPr lang="en-IN" b="1" dirty="0"/>
              <a:t>26–65</a:t>
            </a:r>
            <a:r>
              <a:rPr lang="en-IN" dirty="0"/>
              <a:t> generate the majority of revenue across all product categories, making them the most valuable customer segment.</a:t>
            </a:r>
          </a:p>
          <a:p>
            <a:endParaRPr lang="en-IN" dirty="0"/>
          </a:p>
          <a:p>
            <a:r>
              <a:rPr lang="en-IN" b="1" dirty="0"/>
              <a:t>Highest revenue contributor:</a:t>
            </a:r>
            <a:r>
              <a:rPr lang="en-IN" dirty="0"/>
              <a:t> </a:t>
            </a:r>
            <a:r>
              <a:rPr lang="en-IN" b="1" dirty="0"/>
              <a:t>Clothing</a:t>
            </a:r>
            <a:r>
              <a:rPr lang="en-IN" dirty="0"/>
              <a:t> is the highest revenue-generating category across nearly every age group, with the strongest contribution coming from customers aged </a:t>
            </a:r>
            <a:r>
              <a:rPr lang="en-IN" b="1" dirty="0"/>
              <a:t>36–45</a:t>
            </a:r>
            <a:r>
              <a:rPr lang="en-IN" dirty="0"/>
              <a:t> and </a:t>
            </a:r>
            <a:r>
              <a:rPr lang="en-IN" b="1" dirty="0"/>
              <a:t>46–55</a:t>
            </a:r>
            <a:r>
              <a:rPr lang="en-IN" dirty="0"/>
              <a:t>.</a:t>
            </a:r>
          </a:p>
          <a:p>
            <a:r>
              <a:rPr lang="en-IN" b="1" dirty="0"/>
              <a:t>Lowest revenue contributor:</a:t>
            </a:r>
            <a:r>
              <a:rPr lang="en-IN" dirty="0"/>
              <a:t> </a:t>
            </a:r>
            <a:r>
              <a:rPr lang="en-IN" b="1" dirty="0"/>
              <a:t>Books</a:t>
            </a:r>
            <a:r>
              <a:rPr lang="en-IN" dirty="0"/>
              <a:t> and </a:t>
            </a:r>
            <a:r>
              <a:rPr lang="en-IN" b="1" dirty="0"/>
              <a:t>Souvenirs</a:t>
            </a:r>
            <a:r>
              <a:rPr lang="en-IN" dirty="0"/>
              <a:t> generate the least revenue across all age groups, with minimal contribution from </a:t>
            </a:r>
            <a:r>
              <a:rPr lang="en-IN" b="1" dirty="0"/>
              <a:t>Under 18</a:t>
            </a:r>
            <a:r>
              <a:rPr lang="en-IN" dirty="0"/>
              <a:t> customers.</a:t>
            </a:r>
          </a:p>
          <a:p>
            <a:endParaRPr lang="en-IN" dirty="0"/>
          </a:p>
          <a:p>
            <a:r>
              <a:rPr lang="en-IN" b="1" dirty="0"/>
              <a:t>Business implication:</a:t>
            </a:r>
            <a:r>
              <a:rPr lang="en-IN" dirty="0"/>
              <a:t> The business should continue focusing on high-performing categories such as </a:t>
            </a:r>
            <a:r>
              <a:rPr lang="en-IN" b="1" dirty="0"/>
              <a:t>Clothing</a:t>
            </a:r>
            <a:r>
              <a:rPr lang="en-IN" dirty="0"/>
              <a:t>, </a:t>
            </a:r>
            <a:r>
              <a:rPr lang="en-IN" b="1" dirty="0"/>
              <a:t>Shoes</a:t>
            </a:r>
            <a:r>
              <a:rPr lang="en-IN" dirty="0"/>
              <a:t>, and </a:t>
            </a:r>
            <a:r>
              <a:rPr lang="en-IN" b="1" dirty="0"/>
              <a:t>Technology</a:t>
            </a:r>
            <a:r>
              <a:rPr lang="en-IN" dirty="0"/>
              <a:t> for the </a:t>
            </a:r>
            <a:r>
              <a:rPr lang="en-IN" b="1" dirty="0"/>
              <a:t>26–65</a:t>
            </a:r>
            <a:r>
              <a:rPr lang="en-IN" dirty="0"/>
              <a:t> age segment, while introducing targeted promotions to improve sales among younger customers and in lower-performing product categories.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2233A7-36B0-4801-2C50-086468E0E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28" y="1993886"/>
            <a:ext cx="4576491" cy="287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4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3D1A76-6542-25C9-4169-80197BA7A7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55" y="1946199"/>
            <a:ext cx="3975127" cy="323729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AB18E1D9-B5CC-5ABE-C383-AEDE83177662}"/>
              </a:ext>
            </a:extLst>
          </p:cNvPr>
          <p:cNvSpPr/>
          <p:nvPr/>
        </p:nvSpPr>
        <p:spPr>
          <a:xfrm>
            <a:off x="212527" y="458759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200" b="1" dirty="0"/>
              <a:t>Revenue by Product Category and Gender</a:t>
            </a:r>
            <a:endParaRPr lang="en-US" sz="3200" b="1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1E9B0344-C2E3-ECB9-9CE0-C700D38F4B0E}"/>
              </a:ext>
            </a:extLst>
          </p:cNvPr>
          <p:cNvSpPr/>
          <p:nvPr/>
        </p:nvSpPr>
        <p:spPr>
          <a:xfrm>
            <a:off x="5803244" y="1248145"/>
            <a:ext cx="5912325" cy="393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b="1" dirty="0"/>
              <a:t>Revenue distribution:</a:t>
            </a:r>
            <a:r>
              <a:rPr lang="en-IN" dirty="0"/>
              <a:t> Female customers generate higher revenue than male customers across most product categories, making them the primary contributors to overall sales.</a:t>
            </a:r>
          </a:p>
          <a:p>
            <a:endParaRPr lang="en-IN" dirty="0"/>
          </a:p>
          <a:p>
            <a:r>
              <a:rPr lang="en-IN" b="1" dirty="0"/>
              <a:t>Highest revenue contributor:</a:t>
            </a:r>
            <a:r>
              <a:rPr lang="en-IN" dirty="0"/>
              <a:t> </a:t>
            </a:r>
            <a:r>
              <a:rPr lang="en-IN" b="1" dirty="0"/>
              <a:t>Clothing</a:t>
            </a:r>
            <a:r>
              <a:rPr lang="en-IN" dirty="0"/>
              <a:t> is the highest revenue-generating category for both genders, with female customers contributing the largest share.</a:t>
            </a:r>
          </a:p>
          <a:p>
            <a:r>
              <a:rPr lang="en-IN" b="1" dirty="0"/>
              <a:t>Lowest revenue contributor:</a:t>
            </a:r>
            <a:r>
              <a:rPr lang="en-IN" dirty="0"/>
              <a:t> </a:t>
            </a:r>
            <a:r>
              <a:rPr lang="en-IN" b="1" dirty="0"/>
              <a:t>Books</a:t>
            </a:r>
            <a:r>
              <a:rPr lang="en-IN" dirty="0"/>
              <a:t> and </a:t>
            </a:r>
            <a:r>
              <a:rPr lang="en-IN" b="1" dirty="0"/>
              <a:t>Souvenirs</a:t>
            </a:r>
            <a:r>
              <a:rPr lang="en-IN" dirty="0"/>
              <a:t> generate the lowest revenue for both male and female customers, indicating relatively lower demand.</a:t>
            </a:r>
          </a:p>
          <a:p>
            <a:endParaRPr lang="en-IN" dirty="0"/>
          </a:p>
          <a:p>
            <a:r>
              <a:rPr lang="en-IN" b="1" dirty="0"/>
              <a:t>Business implication:</a:t>
            </a:r>
            <a:r>
              <a:rPr lang="en-IN" dirty="0"/>
              <a:t> The business should continue focusing on high-performing categories such as </a:t>
            </a:r>
            <a:r>
              <a:rPr lang="en-IN" b="1" dirty="0"/>
              <a:t>Clothing</a:t>
            </a:r>
            <a:r>
              <a:rPr lang="en-IN" dirty="0"/>
              <a:t>, </a:t>
            </a:r>
            <a:r>
              <a:rPr lang="en-IN" b="1" dirty="0"/>
              <a:t>Shoes</a:t>
            </a:r>
            <a:r>
              <a:rPr lang="en-IN" dirty="0"/>
              <a:t>, and </a:t>
            </a:r>
            <a:r>
              <a:rPr lang="en-IN" b="1" dirty="0"/>
              <a:t>Technology</a:t>
            </a:r>
            <a:r>
              <a:rPr lang="en-IN" dirty="0"/>
              <a:t>, while implementing targeted marketing strategies to boost sales in lower-performing categories and strengthen engagement across both customer segments</a:t>
            </a:r>
            <a:r>
              <a:rPr lang="en-IN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8813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D18F98-1BA0-3DB9-BA27-21738DEDE906}"/>
              </a:ext>
            </a:extLst>
          </p:cNvPr>
          <p:cNvSpPr txBox="1"/>
          <p:nvPr/>
        </p:nvSpPr>
        <p:spPr>
          <a:xfrm>
            <a:off x="641684" y="641683"/>
            <a:ext cx="96894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/>
              <a:t>Conclusion</a:t>
            </a:r>
          </a:p>
          <a:p>
            <a:pPr algn="ctr">
              <a:buNone/>
            </a:pPr>
            <a:endParaRPr lang="en-IN" sz="3600" dirty="0"/>
          </a:p>
          <a:p>
            <a:pPr>
              <a:buNone/>
            </a:pPr>
            <a:r>
              <a:rPr lang="en-IN" dirty="0"/>
              <a:t>This customer segmentation analysis reveals key insights into customer purchasing </a:t>
            </a:r>
            <a:r>
              <a:rPr lang="en-IN" dirty="0" err="1"/>
              <a:t>behavior</a:t>
            </a:r>
            <a:r>
              <a:rPr lang="en-IN" dirty="0"/>
              <a:t> across demographics, product categories, payment methods, and shopping malls. Female customers and the 26–65 age group contribute the highest revenue, while Clothing, Shoes, and Technology are the top-performing product categories.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findings support data-driven business decisions by identifying valuable customer segments and sales trends. These insights can help improve marketing strategies, optimize inventory, enhance customer engagement, and drive overall business growth.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430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CAB80D-8316-BC0C-E7D1-480DFD99C252}"/>
              </a:ext>
            </a:extLst>
          </p:cNvPr>
          <p:cNvSpPr txBox="1"/>
          <p:nvPr/>
        </p:nvSpPr>
        <p:spPr>
          <a:xfrm>
            <a:off x="2759242" y="1740387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5400" dirty="0"/>
              <a:t>T</a:t>
            </a:r>
            <a:r>
              <a:rPr lang="en-IN" sz="5400" dirty="0"/>
              <a:t>HANK YOU …!</a:t>
            </a:r>
          </a:p>
          <a:p>
            <a:pPr algn="ctr">
              <a:buNone/>
            </a:pPr>
            <a:r>
              <a:rPr lang="en-IN" sz="5400" dirty="0"/>
              <a:t>&amp;</a:t>
            </a:r>
          </a:p>
          <a:p>
            <a:pPr algn="ctr">
              <a:buNone/>
            </a:pPr>
            <a:r>
              <a:rPr lang="en-IN" sz="5400" dirty="0"/>
              <a:t>Questions?</a:t>
            </a:r>
          </a:p>
          <a:p>
            <a:pPr algn="ctr">
              <a:buNone/>
            </a:pPr>
            <a:endParaRPr lang="en-IN" sz="5400" dirty="0"/>
          </a:p>
          <a:p>
            <a:pPr algn="ctr">
              <a:buNone/>
            </a:pP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226476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1300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Barinela Mahendra</dc:creator>
  <cp:lastModifiedBy>Admin</cp:lastModifiedBy>
  <cp:revision>9</cp:revision>
  <dcterms:created xsi:type="dcterms:W3CDTF">2026-07-10T05:43:49Z</dcterms:created>
  <dcterms:modified xsi:type="dcterms:W3CDTF">2026-07-11T06:27:27Z</dcterms:modified>
</cp:coreProperties>
</file>